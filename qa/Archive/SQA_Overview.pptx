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SQA Overview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Landscape &amp;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E859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SQA Team — Then &amp; Now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219456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2194560"/>
          </a:xfrm>
          <a:prstGeom prst="rect">
            <a:avLst/>
          </a:prstGeom>
          <a:solidFill>
            <a:srgbClr val="0F6E5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Previously: Centralized CoE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unified SQA team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testing standards across all tracks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tooling and automation strategy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visibility and unified reporting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 driving best practices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931920" cy="2194560"/>
          </a:xfrm>
          <a:prstGeom prst="rect">
            <a:avLst/>
          </a:prstGeom>
          <a:solidFill>
            <a:srgbClr val="FCEB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51560"/>
            <a:ext cx="73152" cy="2194560"/>
          </a:xfrm>
          <a:prstGeom prst="rect">
            <a:avLst/>
          </a:prstGeom>
          <a:solidFill>
            <a:srgbClr val="A32D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9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Now: Decentralized / Fragmented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6916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spread across individual delivery teams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Center of Excellence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maturity — some teams advanced, many fully manual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 (Playwright, Selenium, none)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silos — no shared best practices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of Decentralization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reporting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single view of quality metrics or test coverage across tracks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coverage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Finance, Data Migration, Correspondence, and UM have no embedded SQA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governance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team makes independent tooling decisions with no shared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SQA Testing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NGPP API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Postman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344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WW Smoke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01752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65176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(~200)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WW Regression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12064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5488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(legacy)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344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Front End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22376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85800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Postman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233172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 Testing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91440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automation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2560320" y="233172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246888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01752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APIs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30175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265176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663440" y="233172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46888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12064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51206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75488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766560" y="233172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2468880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22376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Ops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72237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85800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8West automation, DQ Tool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45720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703320"/>
            <a:ext cx="274320" cy="27432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1440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91440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54864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embedded SQA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256032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0" y="3703320"/>
            <a:ext cx="274320" cy="27432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301752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Correspondence</a:t>
            </a:r>
            <a:endParaRPr lang="en-US" sz="1300" dirty="0"/>
          </a:p>
        </p:txBody>
      </p:sp>
      <p:sp>
        <p:nvSpPr>
          <p:cNvPr id="51" name="Text 39"/>
          <p:cNvSpPr/>
          <p:nvPr/>
        </p:nvSpPr>
        <p:spPr>
          <a:xfrm>
            <a:off x="301752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265176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embedded SQA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466344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703320"/>
            <a:ext cx="274320" cy="27432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512064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</a:t>
            </a:r>
            <a:endParaRPr lang="en-US" sz="1300" dirty="0"/>
          </a:p>
        </p:txBody>
      </p:sp>
      <p:sp>
        <p:nvSpPr>
          <p:cNvPr id="56" name="Text 43"/>
          <p:cNvSpPr/>
          <p:nvPr/>
        </p:nvSpPr>
        <p:spPr>
          <a:xfrm>
            <a:off x="512064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57" name="Text 44"/>
          <p:cNvSpPr/>
          <p:nvPr/>
        </p:nvSpPr>
        <p:spPr>
          <a:xfrm>
            <a:off x="475488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embedded SQA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676656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3703320"/>
            <a:ext cx="274320" cy="274320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722376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 Testing</a:t>
            </a:r>
            <a:endParaRPr lang="en-US" sz="1300" dirty="0"/>
          </a:p>
        </p:txBody>
      </p:sp>
      <p:sp>
        <p:nvSpPr>
          <p:cNvPr id="61" name="Text 47"/>
          <p:cNvSpPr/>
          <p:nvPr/>
        </p:nvSpPr>
        <p:spPr>
          <a:xfrm>
            <a:off x="722376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100" dirty="0"/>
          </a:p>
        </p:txBody>
      </p:sp>
      <p:sp>
        <p:nvSpPr>
          <p:cNvPr id="62" name="Text 48"/>
          <p:cNvSpPr/>
          <p:nvPr/>
        </p:nvSpPr>
        <p:spPr>
          <a:xfrm>
            <a:off x="685800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Duhamel's team</a:t>
            </a:r>
            <a:endParaRPr lang="en-US" sz="1000" dirty="0"/>
          </a:p>
        </p:txBody>
      </p:sp>
      <p:sp>
        <p:nvSpPr>
          <p:cNvPr id="63" name="Shape 49"/>
          <p:cNvSpPr/>
          <p:nvPr/>
        </p:nvSpPr>
        <p:spPr>
          <a:xfrm>
            <a:off x="457200" y="48006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937760"/>
            <a:ext cx="274320" cy="274320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914400" y="4892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CDM</a:t>
            </a:r>
            <a:endParaRPr lang="en-US" sz="1300" dirty="0"/>
          </a:p>
        </p:txBody>
      </p:sp>
      <p:sp>
        <p:nvSpPr>
          <p:cNvPr id="66" name="Text 51"/>
          <p:cNvSpPr/>
          <p:nvPr/>
        </p:nvSpPr>
        <p:spPr>
          <a:xfrm>
            <a:off x="914400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67" name="Text 52"/>
          <p:cNvSpPr/>
          <p:nvPr/>
        </p:nvSpPr>
        <p:spPr>
          <a:xfrm>
            <a:off x="54864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NGPP — 3-Tier API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FAEED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Screens (Playwright)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solidFill>
            <a:srgbClr val="FAEC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for Frontend (BFF) 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solidFill>
            <a:srgbClr val="EEEDF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Service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EOB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2834640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2834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Submission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2834640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2834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Submission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2834640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834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2834640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834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Eligibility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273552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73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Intervention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40280" y="3273552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240280" y="3273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Config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3273552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3273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Schedules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0" y="3273552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3273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Appt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3273552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3273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712464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124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Benefits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40280" y="3712464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240280" y="37124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0" y="3712464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37124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3712464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7124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Message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3712464"/>
            <a:ext cx="1463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37124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429768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526280"/>
            <a:ext cx="5486400" cy="50292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4526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Layer:  Provider  |  Claim  |  Member  |  Document  |  Trusted View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477316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572000"/>
            <a:ext cx="1097280" cy="411480"/>
          </a:xfrm>
          <a:prstGeom prst="rect">
            <a:avLst/>
          </a:prstGeom>
          <a:solidFill>
            <a:srgbClr val="F1EFE8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572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Publisher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98080" y="477316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4572000"/>
            <a:ext cx="822960" cy="4114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49" name="Text 47"/>
          <p:cNvSpPr/>
          <p:nvPr/>
        </p:nvSpPr>
        <p:spPr>
          <a:xfrm>
            <a:off x="7863840" y="4572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 DB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Windward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560320" cy="3474720"/>
          </a:xfrm>
          <a:prstGeom prst="rect">
            <a:avLst/>
          </a:prstGeom>
          <a:solidFill>
            <a:srgbClr val="E6F1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Upstream / Feeders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Load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NGPP Portals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Eligibility/Enrollment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Windward 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UI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65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Benefits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UI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 / C&amp;G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005840"/>
            <a:ext cx="2560320" cy="3474720"/>
          </a:xfrm>
          <a:prstGeom prst="rect">
            <a:avLst/>
          </a:prstGeom>
          <a:solidFill>
            <a:srgbClr val="FAEC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2B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/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NGPP (Provider Portal)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1691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NGCP (Client Portal)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1965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Member Portal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240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Layers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514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SalesForce/DataHub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788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Bank/Print Extracts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Reporting/BI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611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Tool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4160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2560320" cy="1097280"/>
          </a:xfrm>
          <a:prstGeom prst="rect">
            <a:avLst/>
          </a:prstGeom>
          <a:solidFill>
            <a:srgbClr val="F1EF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Clearing Houses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Claims  •  Electronic Claims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Benefits  •  Claim Status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464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/ Server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Client Pilot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2560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Windward 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Windward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011680"/>
            <a:ext cx="1554480" cy="3200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Tier x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1554480" cy="3200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Tier x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64592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Windward 2.0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011680"/>
            <a:ext cx="1554480" cy="32004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Tier x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468880"/>
            <a:ext cx="1554480" cy="32004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468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Tier x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926080"/>
            <a:ext cx="3200400" cy="41148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Tier x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188720"/>
            <a:ext cx="2743200" cy="1097280"/>
          </a:xfrm>
          <a:prstGeom prst="rect">
            <a:avLst/>
          </a:prstGeom>
          <a:solidFill>
            <a:srgbClr val="E1F5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NextGen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 Lambdas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 Lambdas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2560320"/>
            <a:ext cx="2743200" cy="1097280"/>
          </a:xfrm>
          <a:prstGeom prst="rect">
            <a:avLst/>
          </a:prstGeom>
          <a:solidFill>
            <a:srgbClr val="EEEDF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Execution Tier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JobTier — Size TODO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Tier — Size TODO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Matrix by Product Track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822960"/>
                <a:gridCol w="822960"/>
                <a:gridCol w="822960"/>
                <a:gridCol w="1005840"/>
                <a:gridCol w="82296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Correspondence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Svc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C&amp;G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Claims/Adj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Viewer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Flow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Datahub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RightFax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E859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NGPP API, Group API, Membership API &amp; Portals are most mature — full Playwright + Postman automation across 3 API layers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 is in transition — Playwright for smoke (~200), legacy Selenium for regression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03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Data Migration, Correspondence, UM — no automation, no embedded SQA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6616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520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spans Windward Core, Windward 2.0, NextGen lambdas, and Job Execution tier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7160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matrix shows most tracks get Functional + Regression, but Automation and Performance coverage remains sparse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SQA Overview — Testing Landscape</dc:title>
  <dc:subject>PptxGenJS Presentation</dc:subject>
  <dc:creator>SQA Team</dc:creator>
  <cp:lastModifiedBy>SQA Team</cp:lastModifiedBy>
  <cp:revision>1</cp:revision>
  <dcterms:created xsi:type="dcterms:W3CDTF">2026-04-09T12:46:14Z</dcterms:created>
  <dcterms:modified xsi:type="dcterms:W3CDTF">2026-04-09T12:46:14Z</dcterms:modified>
</cp:coreProperties>
</file>